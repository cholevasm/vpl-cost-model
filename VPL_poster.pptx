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365760"/>
            <a:ext cx="29727144" cy="402336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29169360" cy="38404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Times New Roman"/>
              </a:rPr>
              <a:t>VPL: A Novel Cost Model for Earth and Mars-Orbit Navigation and Communication Constellations</a:t>
            </a:r>
          </a:p>
          <a:p>
            <a:pPr algn="ctr">
              <a:spcAft>
                <a:spcPts val="400"/>
              </a:spcAft>
            </a:pPr>
            <a:r>
              <a:rPr sz="2800" b="0">
                <a:solidFill>
                  <a:srgbClr val="FFFFFF"/>
                </a:solidFill>
                <a:latin typeface="Times New Roman"/>
              </a:rPr>
              <a:t>M. Cholevas (TU München)   •   G. Vardanikas (TU Delft)</a:t>
            </a:r>
          </a:p>
          <a:p>
            <a:pPr algn="ctr">
              <a:spcAft>
                <a:spcPts val="400"/>
              </a:spcAft>
            </a:pPr>
            <a:r>
              <a:rPr sz="2400" b="0">
                <a:solidFill>
                  <a:srgbClr val="FFFFFF"/>
                </a:solidFill>
                <a:latin typeface="Times New Roman"/>
              </a:rPr>
              <a:t>ESA/CNES Cost Engineering Conference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754880"/>
            <a:ext cx="8408730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8408730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The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840873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5897880"/>
            <a:ext cx="8225850" cy="4937759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B2733"/>
                </a:solidFill>
                <a:latin typeface="Times New Roman"/>
              </a:rPr>
              <a:t>Limited public unit-cost data for navigation and communication constellations. Legacy models (SMAD USCM8, QuickCost) rest on data up to the early 2000s. We build a cost model on </a:t>
            </a:r>
            <a:r>
              <a:rPr sz="2200" b="1">
                <a:solidFill>
                  <a:srgbClr val="1B2733"/>
                </a:solidFill>
                <a:latin typeface="Times New Roman"/>
              </a:rPr>
              <a:t>25 systems</a:t>
            </a:r>
            <a:r>
              <a:rPr sz="2200" b="0">
                <a:solidFill>
                  <a:srgbClr val="1B2733"/>
                </a:solidFill>
                <a:latin typeface="Times New Roman"/>
              </a:rPr>
              <a:t> (1997–2025), that also covers New-Space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38767" y="4754880"/>
            <a:ext cx="11598249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38767" y="4754880"/>
            <a:ext cx="11598249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The resolved CER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8767" y="5806440"/>
            <a:ext cx="11598249" cy="5120640"/>
          </a:xfrm>
          <a:prstGeom prst="roundRect">
            <a:avLst>
              <a:gd name="adj" fmla="val 4000"/>
            </a:avLst>
          </a:prstGeom>
          <a:solidFill>
            <a:srgbClr val="FBEFD8"/>
          </a:solidFill>
          <a:ln w="12700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1647" y="5943600"/>
            <a:ext cx="11232489" cy="484632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B2733"/>
                </a:solidFill>
                <a:latin typeface="Times New Roman"/>
              </a:rPr>
              <a:t>TOTAL(M,N) = F·g·[ DEV(M) + PFM(M)·N^LRE ]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B2733"/>
                </a:solidFill>
                <a:latin typeface="Times New Roman"/>
              </a:rPr>
              <a:t>DEV(M) = 5.99·M^0.613      PFM(M) = 0.219·M^0.828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B2733"/>
                </a:solidFill>
                <a:latin typeface="Times New Roman"/>
              </a:rPr>
              <a:t>M = platform mass [kg],  N = units,  cost in FY2025 €M.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B2733"/>
                </a:solidFill>
                <a:latin typeface="Times New Roman"/>
              </a:rPr>
              <a:t>LRE = 1 + ln(0.9)/ln(2) = 0.848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B2733"/>
                </a:solidFill>
                <a:latin typeface="Times New Roman"/>
              </a:rPr>
              <a:t>g = 1 traditional, 0.120 New-Space.   F = 1 Earth, 1.14 Mars.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B2733"/>
                </a:solidFill>
                <a:latin typeface="Times New Roman"/>
              </a:rPr>
              <a:t>Plug in M and N → programme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26973" y="4754880"/>
            <a:ext cx="8408730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26973" y="4754880"/>
            <a:ext cx="8408730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Main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26973" y="5806440"/>
            <a:ext cx="8408730" cy="5120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64133" y="5989320"/>
            <a:ext cx="8134410" cy="475488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22406E"/>
                </a:solidFill>
                <a:latin typeface="Times New Roman"/>
              </a:rPr>
              <a:t>0.94 </a:t>
            </a:r>
            <a:r>
              <a:rPr sz="2200" b="0">
                <a:solidFill>
                  <a:srgbClr val="1B2733"/>
                </a:solidFill>
                <a:latin typeface="Times New Roman"/>
              </a:rPr>
              <a:t>cross-validated R²</a:t>
            </a:r>
          </a:p>
          <a:p>
            <a:pPr algn="l">
              <a:spcAft>
                <a:spcPts val="400"/>
              </a:spcAft>
            </a:pPr>
            <a:r>
              <a:rPr sz="6000" b="1">
                <a:solidFill>
                  <a:srgbClr val="C0392B"/>
                </a:solidFill>
                <a:latin typeface="Times New Roman"/>
              </a:rPr>
              <a:t>5–21× </a:t>
            </a:r>
            <a:r>
              <a:rPr sz="2200" b="0">
                <a:solidFill>
                  <a:srgbClr val="1B2733"/>
                </a:solidFill>
                <a:latin typeface="Times New Roman"/>
              </a:rPr>
              <a:t>New-Space cheaper</a:t>
            </a:r>
          </a:p>
          <a:p>
            <a:pPr algn="l">
              <a:spcAft>
                <a:spcPts val="400"/>
              </a:spcAft>
            </a:pPr>
            <a:r>
              <a:rPr sz="4400" b="1">
                <a:solidFill>
                  <a:srgbClr val="2E7D32"/>
                </a:solidFill>
                <a:latin typeface="Times New Roman"/>
              </a:rPr>
              <a:t>≈ </a:t>
            </a:r>
            <a:r>
              <a:rPr sz="2200" b="0">
                <a:solidFill>
                  <a:srgbClr val="1B2733"/>
                </a:solidFill>
                <a:latin typeface="Times New Roman"/>
              </a:rPr>
              <a:t>USCM8+QuickCost on traditional;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1B2733"/>
                </a:solidFill>
                <a:latin typeface="Times New Roman"/>
              </a:rPr>
              <a:t>but SMAD over-predicts New-Space ~7×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11338560"/>
            <a:ext cx="14062877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1338560"/>
            <a:ext cx="14062877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Cost-Plus vs New-Space Economy</a:t>
            </a:r>
          </a:p>
        </p:txBody>
      </p:sp>
      <p:pic>
        <p:nvPicPr>
          <p:cNvPr id="19" name="Picture 18" descr="B_costper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90120"/>
            <a:ext cx="14062877" cy="6993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19474832"/>
            <a:ext cx="14062877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B2733"/>
                </a:solidFill>
                <a:latin typeface="Times New Roman"/>
              </a:rPr>
              <a:t>New-Space mass-produced builds are 5–21× cheaper per kg than traditional cost-plus bespoke systems.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572826" y="11338560"/>
            <a:ext cx="14062877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72826" y="11338560"/>
            <a:ext cx="14062877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Validation</a:t>
            </a:r>
          </a:p>
        </p:txBody>
      </p:sp>
      <p:pic>
        <p:nvPicPr>
          <p:cNvPr id="23" name="Picture 22" descr="A_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2826" y="12390120"/>
            <a:ext cx="14062877" cy="659986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572826" y="19081424"/>
            <a:ext cx="14062877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B2733"/>
                </a:solidFill>
                <a:latin typeface="Times New Roman"/>
              </a:rPr>
              <a:t>Leave-one-out cross-validation over 25 systems. The CER tracks unit cost across three orders of magnitude (R² = 0.94 pooled, 0.85 traditional-only).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20116800"/>
            <a:ext cx="14062877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0116800"/>
            <a:ext cx="14062877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Development vs production</a:t>
            </a:r>
          </a:p>
        </p:txBody>
      </p:sp>
      <p:pic>
        <p:nvPicPr>
          <p:cNvPr id="27" name="Picture 26" descr="E_devfr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168360"/>
            <a:ext cx="14062877" cy="605237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40080" y="27312177"/>
            <a:ext cx="14062877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B2733"/>
                </a:solidFill>
                <a:latin typeface="Times New Roman"/>
              </a:rPr>
              <a:t>The DEV/PFM split is fixed by disclosed programme budgets (US SARs, ESA), not by the fit.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72826" y="20116800"/>
            <a:ext cx="14062877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72826" y="20116800"/>
            <a:ext cx="14062877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Cost vs mass and constellation size</a:t>
            </a:r>
          </a:p>
        </p:txBody>
      </p:sp>
      <p:pic>
        <p:nvPicPr>
          <p:cNvPr id="31" name="Picture 30" descr="F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2826" y="21168360"/>
            <a:ext cx="14062877" cy="555707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572826" y="26816870"/>
            <a:ext cx="14062877" cy="1371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B2733"/>
                </a:solidFill>
                <a:latin typeface="Times New Roman"/>
              </a:rPr>
              <a:t>Iso-cost contours of TOTAL(M,N). VPL Traditional tracks the SMAD benchmark, with VPL New-Space a full band below.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28895040"/>
            <a:ext cx="14062877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8895040"/>
            <a:ext cx="14062877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Planetary cost factor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29946600"/>
            <a:ext cx="14062877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30038040"/>
            <a:ext cx="13879997" cy="3657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B2733"/>
                </a:solidFill>
                <a:latin typeface="Times New Roman"/>
              </a:rPr>
              <a:t>A subsystem bottom-up estimate gives a Mars bus-cost increase of </a:t>
            </a:r>
            <a:r>
              <a:rPr sz="2200" b="1">
                <a:solidFill>
                  <a:srgbClr val="1B2733"/>
                </a:solidFill>
                <a:latin typeface="Times New Roman"/>
              </a:rPr>
              <a:t>10% ± 4.5%</a:t>
            </a:r>
            <a:r>
              <a:rPr sz="2200" b="0">
                <a:solidFill>
                  <a:srgbClr val="1B2733"/>
                </a:solidFill>
                <a:latin typeface="Times New Roman"/>
              </a:rPr>
              <a:t>, adopted as </a:t>
            </a:r>
            <a:r>
              <a:rPr sz="2200" b="1">
                <a:solidFill>
                  <a:srgbClr val="1B2733"/>
                </a:solidFill>
                <a:latin typeface="Times New Roman"/>
              </a:rPr>
              <a:t>F = 1.14</a:t>
            </a:r>
            <a:r>
              <a:rPr sz="2200" b="0">
                <a:solidFill>
                  <a:srgbClr val="1B2733"/>
                </a:solidFill>
                <a:latin typeface="Times New Roman"/>
              </a:rPr>
              <a:t> (Earth F = 1). This replaces SMAD/QuickCost's blanket 1.29 planetary factor. Sources: RAND TR-418; Jones (ICES 2015).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572826" y="28895040"/>
            <a:ext cx="14062877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72826" y="28895040"/>
            <a:ext cx="14062877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Operations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572826" y="29946600"/>
            <a:ext cx="14062877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664266" y="30038040"/>
            <a:ext cx="13879997" cy="365760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B2733"/>
                </a:solidFill>
                <a:latin typeface="Times New Roman"/>
              </a:rPr>
              <a:t>Mission operations use the SME-SMAD Table 11-28 model: </a:t>
            </a:r>
            <a:r>
              <a:rPr sz="2200" b="1">
                <a:solidFill>
                  <a:srgbClr val="1B2733"/>
                </a:solidFill>
                <a:latin typeface="Times New Roman"/>
              </a:rPr>
              <a:t>€159 M for 31 satellites over 5 years</a:t>
            </a:r>
            <a:r>
              <a:rPr sz="2200" b="0">
                <a:solidFill>
                  <a:srgbClr val="1B2733"/>
                </a:solidFill>
                <a:latin typeface="Times New Roman"/>
              </a:rPr>
              <a:t>. Drivers: flight and ground software maintenance (SLOC), 19 engineers + 4 technicians, facilities and ground-hardware maintenance.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34290000"/>
            <a:ext cx="28995624" cy="914400"/>
          </a:xfrm>
          <a:prstGeom prst="roundRect">
            <a:avLst>
              <a:gd name="adj" fmla="val 4000"/>
            </a:avLst>
          </a:prstGeom>
          <a:solidFill>
            <a:srgbClr val="224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4290000"/>
            <a:ext cx="28995624" cy="91440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Times New Roman"/>
              </a:rPr>
              <a:t>Data and code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35341560"/>
            <a:ext cx="28995624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_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661600"/>
            <a:ext cx="3200400" cy="32004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572000" y="35707320"/>
            <a:ext cx="24789384" cy="3108960"/>
          </a:xfrm>
          <a:prstGeom prst="rect">
            <a:avLst/>
          </a:prstGeom>
          <a:noFill/>
        </p:spPr>
        <p:txBody>
          <a:bodyPr wrap="square" anchor="ctr" lIns="109728" rIns="109728" tIns="54864" bIns="54864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1B2733"/>
                </a:solidFill>
                <a:latin typeface="Times New Roman"/>
              </a:rPr>
              <a:t>GitHub repository with the dataset, per-number sources, the Python model, the reproduction notebook, this poster and a detailed report.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22406E"/>
                </a:solidFill>
                <a:latin typeface="Times New Roman"/>
              </a:rPr>
              <a:t>github.com/cholevasm/vpl-cost-model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