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5EAF"/>
    <a:srgbClr val="0C54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33" d="100"/>
          <a:sy n="33" d="100"/>
        </p:scale>
        <p:origin x="60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00978"/>
            <a:ext cx="30275784" cy="42803064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42">
            <a:extLst>
              <a:ext uri="{FF2B5EF4-FFF2-40B4-BE49-F238E27FC236}">
                <a16:creationId xmlns:a16="http://schemas.microsoft.com/office/drawing/2014/main" id="{A1800966-4A8B-A9B2-C98A-C2022DD41287}"/>
              </a:ext>
            </a:extLst>
          </p:cNvPr>
          <p:cNvSpPr/>
          <p:nvPr/>
        </p:nvSpPr>
        <p:spPr>
          <a:xfrm>
            <a:off x="22364699" y="38643243"/>
            <a:ext cx="7271005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7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74320" y="365760"/>
            <a:ext cx="29727144" cy="4023360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0D5EAF"/>
              </a:gs>
              <a:gs pos="100000">
                <a:srgbClr val="0C549C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54867"/>
            <a:ext cx="25571923" cy="3845155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7200" b="1" dirty="0">
                <a:solidFill>
                  <a:srgbClr val="FFFFFF"/>
                </a:solidFill>
                <a:latin typeface="Times New Roman"/>
              </a:rPr>
              <a:t>VPL: A Novel Cost Model for Earth and Mars-Orbit Navigation and Communication Constellations</a:t>
            </a:r>
          </a:p>
          <a:p>
            <a:pPr algn="ctr">
              <a:spcAft>
                <a:spcPts val="400"/>
              </a:spcAft>
            </a:pPr>
            <a:r>
              <a:rPr sz="4800" b="0" dirty="0">
                <a:solidFill>
                  <a:srgbClr val="FFFFFF"/>
                </a:solidFill>
                <a:latin typeface="Times New Roman"/>
              </a:rPr>
              <a:t>M. Cholevas (TU München)   •   G. </a:t>
            </a:r>
            <a:r>
              <a:rPr sz="4800" b="0" dirty="0" err="1">
                <a:solidFill>
                  <a:srgbClr val="FFFFFF"/>
                </a:solidFill>
                <a:latin typeface="Times New Roman"/>
              </a:rPr>
              <a:t>Vardanikas</a:t>
            </a:r>
            <a:r>
              <a:rPr sz="4800" b="0" dirty="0">
                <a:solidFill>
                  <a:srgbClr val="FFFFFF"/>
                </a:solidFill>
                <a:latin typeface="Times New Roman"/>
              </a:rPr>
              <a:t> (TU Delft)</a:t>
            </a:r>
          </a:p>
          <a:p>
            <a:pPr algn="ctr">
              <a:spcAft>
                <a:spcPts val="400"/>
              </a:spcAft>
            </a:pPr>
            <a:r>
              <a:rPr sz="4400" b="0" dirty="0">
                <a:solidFill>
                  <a:srgbClr val="FFFFFF"/>
                </a:solidFill>
                <a:latin typeface="Times New Roman"/>
              </a:rPr>
              <a:t>ESA/CNES Cost Engineering Conference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754880"/>
            <a:ext cx="8408730" cy="914400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0D5EAF"/>
              </a:gs>
              <a:gs pos="100000">
                <a:srgbClr val="0C549C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4695018"/>
            <a:ext cx="8408730" cy="1034129"/>
          </a:xfrm>
          <a:prstGeom prst="rect">
            <a:avLst/>
          </a:prstGeom>
          <a:gradFill>
            <a:gsLst>
              <a:gs pos="0">
                <a:srgbClr val="0D5EAF"/>
              </a:gs>
              <a:gs pos="100000">
                <a:srgbClr val="0C549C"/>
              </a:gs>
            </a:gsLst>
            <a:lin ang="16200000" scaled="0"/>
          </a:gradFill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6000" b="1">
                <a:solidFill>
                  <a:srgbClr val="FFFFFF"/>
                </a:solidFill>
                <a:latin typeface="Times New Roman"/>
              </a:rPr>
              <a:t>The problem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806440"/>
            <a:ext cx="8408730" cy="5120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7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5897880"/>
            <a:ext cx="8225850" cy="3434786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0" dirty="0">
                <a:solidFill>
                  <a:srgbClr val="1B2733"/>
                </a:solidFill>
                <a:latin typeface="Times New Roman"/>
              </a:rPr>
              <a:t>Limited public unit-cost data for navigation and communication constellations. Legacy models (SMAD USCM8, </a:t>
            </a:r>
            <a:r>
              <a:rPr sz="3600" b="0" dirty="0" err="1">
                <a:solidFill>
                  <a:srgbClr val="1B2733"/>
                </a:solidFill>
                <a:latin typeface="Times New Roman"/>
              </a:rPr>
              <a:t>QuickCost</a:t>
            </a:r>
            <a:r>
              <a:rPr sz="3600" b="0" dirty="0">
                <a:solidFill>
                  <a:srgbClr val="1B2733"/>
                </a:solidFill>
                <a:latin typeface="Times New Roman"/>
              </a:rPr>
              <a:t>) rest on data up to the early 2000s. We build a cost model on </a:t>
            </a:r>
            <a:r>
              <a:rPr sz="3600" b="1" dirty="0">
                <a:solidFill>
                  <a:srgbClr val="1B2733"/>
                </a:solidFill>
                <a:latin typeface="Times New Roman"/>
              </a:rPr>
              <a:t>2</a:t>
            </a:r>
            <a:r>
              <a:rPr lang="de-DE" sz="3600" b="1" dirty="0">
                <a:solidFill>
                  <a:srgbClr val="1B2733"/>
                </a:solidFill>
                <a:latin typeface="Times New Roman"/>
              </a:rPr>
              <a:t>5</a:t>
            </a:r>
            <a:r>
              <a:rPr sz="3600" b="1" dirty="0">
                <a:solidFill>
                  <a:srgbClr val="1B2733"/>
                </a:solidFill>
                <a:latin typeface="Times New Roman"/>
              </a:rPr>
              <a:t> systems</a:t>
            </a:r>
            <a:r>
              <a:rPr sz="3600" b="0" dirty="0">
                <a:solidFill>
                  <a:srgbClr val="1B2733"/>
                </a:solidFill>
                <a:latin typeface="Times New Roman"/>
              </a:rPr>
              <a:t> (1997–2025), that also covers New-Space systems.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38767" y="4754880"/>
            <a:ext cx="11598249" cy="914400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0D5EAF"/>
              </a:gs>
              <a:gs pos="100000">
                <a:srgbClr val="0C549C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38767" y="4695018"/>
            <a:ext cx="11598249" cy="1034129"/>
          </a:xfrm>
          <a:prstGeom prst="rect">
            <a:avLst/>
          </a:prstGeom>
          <a:gradFill>
            <a:gsLst>
              <a:gs pos="0">
                <a:srgbClr val="0D5EAF"/>
              </a:gs>
              <a:gs pos="100000">
                <a:srgbClr val="0C549C"/>
              </a:gs>
            </a:gsLst>
            <a:lin ang="16200000" scaled="0"/>
          </a:gradFill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6000" b="1">
                <a:solidFill>
                  <a:srgbClr val="FFFFFF"/>
                </a:solidFill>
                <a:latin typeface="Times New Roman"/>
              </a:rPr>
              <a:t>The resolved CER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38767" y="5806440"/>
            <a:ext cx="11598249" cy="5120640"/>
          </a:xfrm>
          <a:prstGeom prst="roundRect">
            <a:avLst>
              <a:gd name="adj" fmla="val 4000"/>
            </a:avLst>
          </a:prstGeom>
          <a:solidFill>
            <a:srgbClr val="FBEFD8"/>
          </a:solidFill>
          <a:ln w="12700">
            <a:solidFill>
              <a:srgbClr val="C7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9521647" y="5943600"/>
                <a:ext cx="11232489" cy="5035546"/>
              </a:xfrm>
              <a:prstGeom prst="rect">
                <a:avLst/>
              </a:prstGeom>
              <a:noFill/>
            </p:spPr>
            <p:txBody>
              <a:bodyPr wrap="square" lIns="109728" tIns="54864" rIns="109728" bIns="54864" anchor="t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3600" b="1" i="1" dirty="0" smtClean="0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𝑪𝑶𝑺𝑻</m:t>
                      </m:r>
                      <m:r>
                        <a:rPr lang="en-US" sz="3600" b="1" i="1" dirty="0" smtClean="0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1" i="1" dirty="0" smtClean="0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n-US" sz="3600" b="1" i="1" dirty="0" smtClean="0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3600" b="1" i="1" dirty="0" smtClean="0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3600" b="1" i="1" dirty="0" smtClean="0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sz="3600" b="1" i="1" dirty="0" err="1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3600" b="1" i="1" dirty="0" err="1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3600" b="1" i="1" dirty="0" err="1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3600" b="1" i="1" dirty="0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·[ </m:t>
                      </m:r>
                      <m:r>
                        <a:rPr lang="en-US" sz="3600" b="1" i="1" dirty="0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𝑫𝑬𝑽</m:t>
                      </m:r>
                      <m:r>
                        <a:rPr lang="en-US" sz="3600" b="1" i="1" dirty="0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1" i="1" dirty="0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n-US" sz="3600" b="1" i="1" dirty="0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) + </m:t>
                      </m:r>
                      <m:r>
                        <a:rPr lang="en-US" sz="3600" b="1" i="1" dirty="0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𝑷𝑭𝑴</m:t>
                      </m:r>
                      <m:r>
                        <a:rPr lang="en-US" sz="3600" b="1" i="1" dirty="0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1" i="1" dirty="0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n-US" sz="3600" b="1" i="1" dirty="0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)·</m:t>
                      </m:r>
                      <m:sSup>
                        <m:sSupPr>
                          <m:ctrlPr>
                            <a:rPr lang="en-US" sz="3600" b="1" i="1" dirty="0" smtClean="0">
                              <a:solidFill>
                                <a:srgbClr val="1B27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b="1" i="1" dirty="0" smtClean="0">
                              <a:solidFill>
                                <a:srgbClr val="1B2733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en-US" sz="3600" b="1" i="1" dirty="0" smtClean="0">
                              <a:solidFill>
                                <a:srgbClr val="1B2733"/>
                              </a:solidFill>
                              <a:latin typeface="Cambria Math" panose="02040503050406030204" pitchFamily="18" charset="0"/>
                            </a:rPr>
                            <m:t>𝑳𝑹𝑬</m:t>
                          </m:r>
                        </m:sup>
                      </m:sSup>
                      <m:r>
                        <a:rPr lang="en-US" sz="3600" b="1" i="1" dirty="0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 ]</m:t>
                      </m:r>
                      <m:r>
                        <a:rPr lang="en-US" sz="3600" b="1" i="1" dirty="0" smtClean="0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dirty="0"/>
              </a:p>
              <a:p>
                <a:pPr algn="l">
                  <a:spcAft>
                    <a:spcPts val="400"/>
                  </a:spcAft>
                </a:pPr>
                <a:endParaRPr lang="en-US" sz="4000" b="0" dirty="0">
                  <a:solidFill>
                    <a:srgbClr val="1B2733"/>
                  </a:solidFill>
                  <a:latin typeface="Times New Roman"/>
                </a:endParaRPr>
              </a:p>
              <a:p>
                <a:pPr algn="l">
                  <a:spcAft>
                    <a:spcPts val="400"/>
                  </a:spcAft>
                </a:pPr>
                <a:endParaRPr lang="en-US" sz="4000" b="0" dirty="0">
                  <a:solidFill>
                    <a:srgbClr val="1B2733"/>
                  </a:solidFill>
                  <a:latin typeface="Times New Roman"/>
                </a:endParaRPr>
              </a:p>
              <a:p>
                <a:pPr marL="571500" indent="-571500" algn="l">
                  <a:spcAft>
                    <a:spcPts val="400"/>
                  </a:spcAft>
                  <a:buFont typeface="Times New Roman" panose="02020603050405020304" pitchFamily="18" charset="0"/>
                  <a:buChar char="­"/>
                </a:pPr>
                <a:r>
                  <a:rPr sz="3500" b="1" i="1" dirty="0">
                    <a:solidFill>
                      <a:srgbClr val="1B2733"/>
                    </a:solidFill>
                    <a:latin typeface="Times New Roman"/>
                  </a:rPr>
                  <a:t>M</a:t>
                </a:r>
                <a:r>
                  <a:rPr sz="3500" b="0" dirty="0">
                    <a:solidFill>
                      <a:srgbClr val="1B2733"/>
                    </a:solidFill>
                    <a:latin typeface="Times New Roman"/>
                  </a:rPr>
                  <a:t> = platform mass [kg],  </a:t>
                </a:r>
                <a:endParaRPr lang="en-US" sz="3500" b="0" dirty="0">
                  <a:solidFill>
                    <a:srgbClr val="1B2733"/>
                  </a:solidFill>
                  <a:latin typeface="Times New Roman"/>
                </a:endParaRPr>
              </a:p>
              <a:p>
                <a:pPr marL="571500" indent="-571500" algn="l">
                  <a:spcAft>
                    <a:spcPts val="400"/>
                  </a:spcAft>
                  <a:buFont typeface="Times New Roman" panose="02020603050405020304" pitchFamily="18" charset="0"/>
                  <a:buChar char="­"/>
                </a:pPr>
                <a:r>
                  <a:rPr sz="3500" b="1" i="1" dirty="0">
                    <a:solidFill>
                      <a:srgbClr val="1B2733"/>
                    </a:solidFill>
                    <a:latin typeface="Times New Roman"/>
                  </a:rPr>
                  <a:t>N </a:t>
                </a:r>
                <a:r>
                  <a:rPr sz="3500" b="0" dirty="0">
                    <a:solidFill>
                      <a:srgbClr val="1B2733"/>
                    </a:solidFill>
                    <a:latin typeface="Times New Roman"/>
                  </a:rPr>
                  <a:t>= units,  cost in FY2025 €M.</a:t>
                </a:r>
              </a:p>
              <a:p>
                <a:pPr marL="571500" indent="-571500" algn="l">
                  <a:spcAft>
                    <a:spcPts val="400"/>
                  </a:spcAft>
                  <a:buFont typeface="Times New Roman" panose="02020603050405020304" pitchFamily="18" charset="0"/>
                  <a:buChar char="­"/>
                </a:pPr>
                <a:r>
                  <a:rPr sz="3500" b="1" i="1" dirty="0">
                    <a:solidFill>
                      <a:srgbClr val="1B2733"/>
                    </a:solidFill>
                    <a:latin typeface="Times New Roman"/>
                  </a:rPr>
                  <a:t>LRE</a:t>
                </a:r>
                <a:r>
                  <a:rPr sz="3500" b="0" dirty="0">
                    <a:solidFill>
                      <a:srgbClr val="1B2733"/>
                    </a:solidFill>
                    <a:latin typeface="Times New Roman"/>
                  </a:rPr>
                  <a:t> = 1 + ln(0.9)/ln(2) = 0.848</a:t>
                </a:r>
              </a:p>
              <a:p>
                <a:pPr marL="571500" indent="-571500" algn="l">
                  <a:spcAft>
                    <a:spcPts val="400"/>
                  </a:spcAft>
                  <a:buFont typeface="Times New Roman" panose="02020603050405020304" pitchFamily="18" charset="0"/>
                  <a:buChar char="­"/>
                </a:pPr>
                <a14:m>
                  <m:oMath xmlns:m="http://schemas.openxmlformats.org/officeDocument/2006/math">
                    <m:r>
                      <a:rPr lang="en-US" sz="3500" b="1" i="1" dirty="0" smtClean="0">
                        <a:solidFill>
                          <a:srgbClr val="1B2733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sz="3500" b="0" dirty="0">
                    <a:solidFill>
                      <a:srgbClr val="1B2733"/>
                    </a:solidFill>
                    <a:latin typeface="Times New Roman"/>
                  </a:rPr>
                  <a:t> = 1 traditional, 0.118 New-Space.  </a:t>
                </a:r>
                <a:endParaRPr lang="en-US" sz="3500" b="0" dirty="0">
                  <a:solidFill>
                    <a:srgbClr val="1B2733"/>
                  </a:solidFill>
                  <a:latin typeface="Times New Roman"/>
                </a:endParaRPr>
              </a:p>
              <a:p>
                <a:pPr marL="571500" indent="-571500" algn="l">
                  <a:spcAft>
                    <a:spcPts val="400"/>
                  </a:spcAft>
                  <a:buFont typeface="Times New Roman" panose="02020603050405020304" pitchFamily="18" charset="0"/>
                  <a:buChar char="­"/>
                </a:pPr>
                <a:r>
                  <a:rPr sz="3500" b="1" i="1" dirty="0">
                    <a:solidFill>
                      <a:srgbClr val="1B2733"/>
                    </a:solidFill>
                    <a:latin typeface="Times New Roman"/>
                  </a:rPr>
                  <a:t>F</a:t>
                </a:r>
                <a:r>
                  <a:rPr sz="3500" b="0" dirty="0">
                    <a:solidFill>
                      <a:srgbClr val="1B2733"/>
                    </a:solidFill>
                    <a:latin typeface="Times New Roman"/>
                  </a:rPr>
                  <a:t> = 1 Earth, 1.14 Mars.</a:t>
                </a:r>
                <a:endParaRPr sz="3500" b="1" dirty="0">
                  <a:solidFill>
                    <a:srgbClr val="1B2733"/>
                  </a:solidFill>
                  <a:latin typeface="Times New Roman"/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47" y="5943600"/>
                <a:ext cx="11232489" cy="5035546"/>
              </a:xfrm>
              <a:prstGeom prst="rect">
                <a:avLst/>
              </a:prstGeom>
              <a:blipFill>
                <a:blip r:embed="rId2"/>
                <a:stretch>
                  <a:fillRect l="-1248"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ounded Rectangle 12"/>
          <p:cNvSpPr/>
          <p:nvPr/>
        </p:nvSpPr>
        <p:spPr>
          <a:xfrm>
            <a:off x="21226973" y="4754880"/>
            <a:ext cx="8408730" cy="914400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0D5EAF"/>
              </a:gs>
              <a:gs pos="100000">
                <a:srgbClr val="0C549C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1226973" y="4695018"/>
            <a:ext cx="8408730" cy="1034129"/>
          </a:xfrm>
          <a:prstGeom prst="rect">
            <a:avLst/>
          </a:prstGeom>
          <a:gradFill>
            <a:gsLst>
              <a:gs pos="0">
                <a:srgbClr val="0D5EAF"/>
              </a:gs>
              <a:gs pos="100000">
                <a:srgbClr val="0C549C"/>
              </a:gs>
            </a:gsLst>
            <a:lin ang="16200000" scaled="0"/>
          </a:gradFill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6000" b="1">
                <a:solidFill>
                  <a:srgbClr val="FFFFFF"/>
                </a:solidFill>
                <a:latin typeface="Times New Roman"/>
              </a:rPr>
              <a:t>Main metrics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226973" y="5806440"/>
            <a:ext cx="8408730" cy="5120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7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1364133" y="5989320"/>
            <a:ext cx="8134410" cy="454278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800" b="1" dirty="0">
                <a:solidFill>
                  <a:srgbClr val="0D5EAF"/>
                </a:solidFill>
                <a:latin typeface="Times New Roman"/>
              </a:rPr>
              <a:t>0.9</a:t>
            </a:r>
            <a:r>
              <a:rPr lang="de-DE" sz="8800" b="1" dirty="0">
                <a:solidFill>
                  <a:srgbClr val="0D5EAF"/>
                </a:solidFill>
                <a:latin typeface="Times New Roman"/>
              </a:rPr>
              <a:t>4</a:t>
            </a:r>
            <a:r>
              <a:rPr sz="8800" b="1" dirty="0">
                <a:solidFill>
                  <a:srgbClr val="22406E"/>
                </a:solidFill>
                <a:latin typeface="Times New Roman"/>
              </a:rPr>
              <a:t> </a:t>
            </a:r>
            <a:r>
              <a:rPr sz="3600" b="0" dirty="0">
                <a:solidFill>
                  <a:srgbClr val="1B2733"/>
                </a:solidFill>
                <a:latin typeface="Times New Roman"/>
              </a:rPr>
              <a:t>cross-validated R²</a:t>
            </a:r>
          </a:p>
          <a:p>
            <a:pPr algn="l">
              <a:spcAft>
                <a:spcPts val="400"/>
              </a:spcAft>
            </a:pPr>
            <a:r>
              <a:rPr sz="8800" b="1" dirty="0">
                <a:solidFill>
                  <a:srgbClr val="C0392B"/>
                </a:solidFill>
                <a:latin typeface="Times New Roman"/>
              </a:rPr>
              <a:t>5–21× </a:t>
            </a:r>
            <a:r>
              <a:rPr sz="3600" b="0" dirty="0">
                <a:solidFill>
                  <a:srgbClr val="1B2733"/>
                </a:solidFill>
                <a:latin typeface="Times New Roman"/>
              </a:rPr>
              <a:t>New-Space cheaper</a:t>
            </a:r>
          </a:p>
          <a:p>
            <a:pPr algn="l">
              <a:spcAft>
                <a:spcPts val="400"/>
              </a:spcAft>
            </a:pPr>
            <a:r>
              <a:rPr sz="6600" b="1" dirty="0">
                <a:solidFill>
                  <a:srgbClr val="2E7D32"/>
                </a:solidFill>
                <a:latin typeface="Times New Roman"/>
              </a:rPr>
              <a:t>≈ </a:t>
            </a:r>
            <a:r>
              <a:rPr sz="3600" b="0" dirty="0">
                <a:solidFill>
                  <a:srgbClr val="1B2733"/>
                </a:solidFill>
                <a:latin typeface="Times New Roman"/>
              </a:rPr>
              <a:t>USCM8+QuickCost on traditional;</a:t>
            </a:r>
          </a:p>
          <a:p>
            <a:pPr algn="l">
              <a:spcAft>
                <a:spcPts val="400"/>
              </a:spcAft>
            </a:pPr>
            <a:r>
              <a:rPr sz="3600" b="0" dirty="0">
                <a:solidFill>
                  <a:srgbClr val="1B2733"/>
                </a:solidFill>
                <a:latin typeface="Times New Roman"/>
              </a:rPr>
              <a:t>but SMAD over-predicts New-Space ~</a:t>
            </a:r>
            <a:r>
              <a:rPr lang="de-DE" sz="3600" b="0" dirty="0">
                <a:solidFill>
                  <a:srgbClr val="1B2733"/>
                </a:solidFill>
                <a:latin typeface="Times New Roman"/>
              </a:rPr>
              <a:t>7</a:t>
            </a:r>
            <a:r>
              <a:rPr sz="3600" b="0" dirty="0">
                <a:solidFill>
                  <a:srgbClr val="1B2733"/>
                </a:solidFill>
                <a:latin typeface="Times New Roman"/>
              </a:rPr>
              <a:t>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11338560"/>
            <a:ext cx="14062877" cy="914400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0D5EAF"/>
              </a:gs>
              <a:gs pos="100000">
                <a:srgbClr val="0C549C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11278698"/>
            <a:ext cx="14062877" cy="1034129"/>
          </a:xfrm>
          <a:prstGeom prst="rect">
            <a:avLst/>
          </a:prstGeom>
          <a:gradFill>
            <a:gsLst>
              <a:gs pos="0">
                <a:srgbClr val="0D5EAF"/>
              </a:gs>
              <a:gs pos="100000">
                <a:srgbClr val="0C549C"/>
              </a:gs>
            </a:gsLst>
            <a:lin ang="16200000" scaled="0"/>
          </a:gradFill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6000" b="1" dirty="0">
                <a:solidFill>
                  <a:srgbClr val="FFFFFF"/>
                </a:solidFill>
                <a:latin typeface="Times New Roman"/>
              </a:rPr>
              <a:t>Cost-Plus vs New-Space Economy</a:t>
            </a: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2390848"/>
            <a:ext cx="14062877" cy="69918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" y="19474832"/>
            <a:ext cx="14062877" cy="1095685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0" dirty="0">
                <a:solidFill>
                  <a:srgbClr val="1B2733"/>
                </a:solidFill>
                <a:latin typeface="Times New Roman"/>
              </a:rPr>
              <a:t>New-Space mass-produced builds are 5–21× cheaper per kg than traditional cost-plus bespoke systems.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572826" y="11338560"/>
            <a:ext cx="14062877" cy="914400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0D5EAF"/>
              </a:gs>
              <a:gs pos="100000">
                <a:srgbClr val="0C549C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5572826" y="11278698"/>
            <a:ext cx="14062877" cy="1034129"/>
          </a:xfrm>
          <a:prstGeom prst="rect">
            <a:avLst/>
          </a:prstGeom>
          <a:gradFill>
            <a:gsLst>
              <a:gs pos="0">
                <a:srgbClr val="0D5EAF"/>
              </a:gs>
              <a:gs pos="100000">
                <a:srgbClr val="0C549C"/>
              </a:gs>
            </a:gsLst>
            <a:lin ang="16200000" scaled="0"/>
          </a:gradFill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6000" b="1">
                <a:solidFill>
                  <a:srgbClr val="FFFFFF"/>
                </a:solidFill>
                <a:latin typeface="Times New Roman"/>
              </a:rPr>
              <a:t>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72256" y="19453723"/>
            <a:ext cx="14062877" cy="1095685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0" dirty="0">
                <a:solidFill>
                  <a:srgbClr val="1B2733"/>
                </a:solidFill>
                <a:latin typeface="Times New Roman"/>
              </a:rPr>
              <a:t>Leave-one-out cross-validation over 27 systems. The CER tracks unit cost across three orders of magnitude (R² = 0.92 pooled, 0.81 traditional-only).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20983067"/>
            <a:ext cx="14062877" cy="914400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0D5EAF"/>
              </a:gs>
              <a:gs pos="100000">
                <a:srgbClr val="0C549C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20923205"/>
            <a:ext cx="14062877" cy="1034129"/>
          </a:xfrm>
          <a:prstGeom prst="rect">
            <a:avLst/>
          </a:prstGeom>
          <a:solidFill>
            <a:srgbClr val="0D5EAF"/>
          </a:solidFill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6000" b="1" dirty="0">
                <a:solidFill>
                  <a:srgbClr val="FFFFFF"/>
                </a:solidFill>
                <a:latin typeface="Times New Roman"/>
              </a:rPr>
              <a:t>Development vs production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40080" y="22037328"/>
            <a:ext cx="14062877" cy="604697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0080" y="28178444"/>
            <a:ext cx="14062877" cy="1095685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0" dirty="0">
                <a:solidFill>
                  <a:srgbClr val="1B2733"/>
                </a:solidFill>
                <a:latin typeface="Times New Roman"/>
              </a:rPr>
              <a:t>The DEV/PFM split is fixed by disclosed </a:t>
            </a:r>
            <a:r>
              <a:rPr sz="3200" b="0" dirty="0" err="1">
                <a:solidFill>
                  <a:srgbClr val="1B2733"/>
                </a:solidFill>
                <a:latin typeface="Times New Roman"/>
              </a:rPr>
              <a:t>programme</a:t>
            </a:r>
            <a:r>
              <a:rPr sz="3200" b="0" dirty="0">
                <a:solidFill>
                  <a:srgbClr val="1B2733"/>
                </a:solidFill>
                <a:latin typeface="Times New Roman"/>
              </a:rPr>
              <a:t> budgets (US SARs, ESA, GAO), not by the fit.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572826" y="20983067"/>
            <a:ext cx="14062877" cy="914400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0D5EAF"/>
              </a:gs>
              <a:gs pos="100000">
                <a:srgbClr val="0C549C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5572826" y="20923205"/>
            <a:ext cx="14062877" cy="1034129"/>
          </a:xfrm>
          <a:prstGeom prst="rect">
            <a:avLst/>
          </a:prstGeom>
          <a:solidFill>
            <a:srgbClr val="0D5EAF"/>
          </a:solidFill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6000" b="1">
                <a:solidFill>
                  <a:srgbClr val="FFFFFF"/>
                </a:solidFill>
                <a:latin typeface="Times New Roman"/>
              </a:rPr>
              <a:t>Cost vs mass and constellation size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72826" y="28178443"/>
            <a:ext cx="14062877" cy="1095685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0" dirty="0">
                <a:solidFill>
                  <a:srgbClr val="1B2733"/>
                </a:solidFill>
                <a:latin typeface="Times New Roman"/>
              </a:rPr>
              <a:t>Iso-cost contours of TOTAL(M,N). VPL Traditional tracks the SMAD benchmark, with VPL New-Space a full band below.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29701995"/>
            <a:ext cx="14062877" cy="914400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0D5EAF"/>
              </a:gs>
              <a:gs pos="100000">
                <a:srgbClr val="0C549C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0080" y="29642133"/>
            <a:ext cx="14062877" cy="1034129"/>
          </a:xfrm>
          <a:prstGeom prst="rect">
            <a:avLst/>
          </a:prstGeom>
          <a:gradFill>
            <a:gsLst>
              <a:gs pos="0">
                <a:srgbClr val="0D5EAF"/>
              </a:gs>
              <a:gs pos="100000">
                <a:srgbClr val="0C549C"/>
              </a:gs>
            </a:gsLst>
            <a:lin ang="5400000" scaled="0"/>
          </a:gradFill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6000" b="1" dirty="0">
                <a:solidFill>
                  <a:srgbClr val="FFFFFF"/>
                </a:solidFill>
                <a:latin typeface="Times New Roman"/>
              </a:rPr>
              <a:t>Planetary cost factor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30753555"/>
            <a:ext cx="14062877" cy="52231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7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1519" y="30844995"/>
            <a:ext cx="13879997" cy="2326791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0" dirty="0">
                <a:solidFill>
                  <a:srgbClr val="1B2733"/>
                </a:solidFill>
                <a:latin typeface="Times New Roman"/>
              </a:rPr>
              <a:t>A subsystem bottom-up estimate gives a Mars bus-cost increase of </a:t>
            </a:r>
            <a:r>
              <a:rPr sz="3600" b="1" dirty="0">
                <a:solidFill>
                  <a:srgbClr val="1B2733"/>
                </a:solidFill>
                <a:latin typeface="Times New Roman"/>
              </a:rPr>
              <a:t>10% ± 4.5%</a:t>
            </a:r>
            <a:r>
              <a:rPr sz="3600" b="0" dirty="0">
                <a:solidFill>
                  <a:srgbClr val="1B2733"/>
                </a:solidFill>
                <a:latin typeface="Times New Roman"/>
              </a:rPr>
              <a:t>, adopted as </a:t>
            </a:r>
            <a:r>
              <a:rPr sz="3600" b="1" dirty="0">
                <a:solidFill>
                  <a:srgbClr val="1B2733"/>
                </a:solidFill>
                <a:latin typeface="Times New Roman"/>
              </a:rPr>
              <a:t>F = 1.14</a:t>
            </a:r>
            <a:r>
              <a:rPr sz="3600" b="0" dirty="0">
                <a:solidFill>
                  <a:srgbClr val="1B2733"/>
                </a:solidFill>
                <a:latin typeface="Times New Roman"/>
              </a:rPr>
              <a:t> (Earth F = 1). This replaces SMAD/</a:t>
            </a:r>
            <a:r>
              <a:rPr sz="3600" b="0" dirty="0" err="1">
                <a:solidFill>
                  <a:srgbClr val="1B2733"/>
                </a:solidFill>
                <a:latin typeface="Times New Roman"/>
              </a:rPr>
              <a:t>QuickCost's</a:t>
            </a:r>
            <a:r>
              <a:rPr sz="3600" b="0" dirty="0">
                <a:solidFill>
                  <a:srgbClr val="1B2733"/>
                </a:solidFill>
                <a:latin typeface="Times New Roman"/>
              </a:rPr>
              <a:t> blanket 1.29 planetary factor. Sources: RAND TR-418; Jones (ICES 2015).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572826" y="29701995"/>
            <a:ext cx="14062877" cy="914400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0D5EAF"/>
              </a:gs>
              <a:gs pos="100000">
                <a:srgbClr val="0C549C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5572826" y="29642133"/>
            <a:ext cx="14062877" cy="1034129"/>
          </a:xfrm>
          <a:prstGeom prst="rect">
            <a:avLst/>
          </a:prstGeom>
          <a:gradFill>
            <a:gsLst>
              <a:gs pos="0">
                <a:srgbClr val="0D5EAF"/>
              </a:gs>
              <a:gs pos="100000">
                <a:srgbClr val="0C549C"/>
              </a:gs>
            </a:gsLst>
            <a:lin ang="5400000" scaled="0"/>
          </a:gradFill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6000" b="1">
                <a:solidFill>
                  <a:srgbClr val="FFFFFF"/>
                </a:solidFill>
                <a:latin typeface="Times New Roman"/>
              </a:rPr>
              <a:t>Operations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5572826" y="30753554"/>
            <a:ext cx="14062877" cy="52231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7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5664266" y="30844995"/>
            <a:ext cx="13879997" cy="2326791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0" dirty="0">
                <a:solidFill>
                  <a:srgbClr val="1B2733"/>
                </a:solidFill>
                <a:latin typeface="Times New Roman"/>
              </a:rPr>
              <a:t>Mission operations use the SME-SMAD Table 11-28 model: </a:t>
            </a:r>
            <a:r>
              <a:rPr sz="3600" b="1" dirty="0">
                <a:solidFill>
                  <a:srgbClr val="1B2733"/>
                </a:solidFill>
                <a:latin typeface="Times New Roman"/>
              </a:rPr>
              <a:t>€159 M for 31 satellites over 5 years</a:t>
            </a:r>
            <a:r>
              <a:rPr sz="3600" b="0" dirty="0">
                <a:solidFill>
                  <a:srgbClr val="1B2733"/>
                </a:solidFill>
                <a:latin typeface="Times New Roman"/>
              </a:rPr>
              <a:t>. Drivers: flight and ground software maintenance (SLOC), 19 engineers + 4 technicians, facilities and ground-hardware maintenance.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7531819"/>
            <a:ext cx="14154317" cy="1034129"/>
          </a:xfrm>
          <a:prstGeom prst="rect">
            <a:avLst/>
          </a:prstGeom>
          <a:gradFill>
            <a:gsLst>
              <a:gs pos="0">
                <a:srgbClr val="0D5EAF"/>
              </a:gs>
              <a:gs pos="100000">
                <a:srgbClr val="0C549C"/>
              </a:gs>
            </a:gsLst>
            <a:lin ang="5400000" scaled="0"/>
          </a:gradFill>
        </p:spPr>
        <p:txBody>
          <a:bodyPr wrap="square" lIns="109728" tIns="54864" rIns="109728" bIns="54864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 dirty="0">
                <a:solidFill>
                  <a:srgbClr val="FFFFFF"/>
                </a:solidFill>
                <a:latin typeface="Times New Roman"/>
              </a:rPr>
              <a:t>Data and code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39" y="38643243"/>
            <a:ext cx="14154317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7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1" y="38933952"/>
            <a:ext cx="3200400" cy="32004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297680" y="39251330"/>
            <a:ext cx="9875520" cy="26243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 dirty="0">
                <a:solidFill>
                  <a:srgbClr val="1B2733"/>
                </a:solidFill>
                <a:latin typeface="Times New Roman"/>
              </a:rPr>
              <a:t>GitHub repository with the dataset, per-number sources, the Python model, the reproduction notebook, this poster and a detailed report.</a:t>
            </a:r>
          </a:p>
          <a:p>
            <a:pPr algn="l">
              <a:spcAft>
                <a:spcPts val="400"/>
              </a:spcAft>
            </a:pPr>
            <a:r>
              <a:rPr sz="4000" b="1" dirty="0">
                <a:solidFill>
                  <a:srgbClr val="22406E"/>
                </a:solidFill>
                <a:latin typeface="Times New Roman"/>
              </a:rPr>
              <a:t>github.com/</a:t>
            </a:r>
            <a:r>
              <a:rPr sz="4000" b="1" dirty="0" err="1">
                <a:solidFill>
                  <a:srgbClr val="22406E"/>
                </a:solidFill>
                <a:latin typeface="Times New Roman"/>
              </a:rPr>
              <a:t>cholevasm</a:t>
            </a:r>
            <a:r>
              <a:rPr sz="4000" b="1" dirty="0">
                <a:solidFill>
                  <a:srgbClr val="22406E"/>
                </a:solidFill>
                <a:latin typeface="Times New Roman"/>
              </a:rPr>
              <a:t>/</a:t>
            </a:r>
            <a:r>
              <a:rPr sz="4000" b="1" dirty="0" err="1">
                <a:solidFill>
                  <a:srgbClr val="22406E"/>
                </a:solidFill>
                <a:latin typeface="Times New Roman"/>
              </a:rPr>
              <a:t>vpl</a:t>
            </a:r>
            <a:r>
              <a:rPr sz="4000" b="1" dirty="0">
                <a:solidFill>
                  <a:srgbClr val="22406E"/>
                </a:solidFill>
                <a:latin typeface="Times New Roman"/>
              </a:rPr>
              <a:t>-cost-model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CA33142-9B14-7584-47A9-39E0CCDF1FBF}"/>
                  </a:ext>
                </a:extLst>
              </p:cNvPr>
              <p:cNvSpPr txBox="1"/>
              <p:nvPr/>
            </p:nvSpPr>
            <p:spPr>
              <a:xfrm>
                <a:off x="13684927" y="6897695"/>
                <a:ext cx="2824565" cy="6976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3600" i="1" dirty="0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de-DE" sz="3600" b="0" i="1" dirty="0" smtClean="0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.99</m:t>
                      </m:r>
                      <m:r>
                        <a:rPr lang="en-US" sz="3600" b="0" i="1" dirty="0" smtClean="0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p>
                        <m:sSupPr>
                          <m:ctrlPr>
                            <a:rPr lang="en-US" sz="3600" b="0" i="1" dirty="0" smtClean="0">
                              <a:solidFill>
                                <a:srgbClr val="1B27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3600" b="0" i="1" dirty="0" smtClean="0">
                              <a:solidFill>
                                <a:srgbClr val="1B2733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p>
                          <m:r>
                            <a:rPr lang="en-US" sz="3600" b="0" i="1" dirty="0" smtClean="0">
                              <a:solidFill>
                                <a:srgbClr val="1B2733"/>
                              </a:solidFill>
                              <a:latin typeface="Cambria Math" panose="02040503050406030204" pitchFamily="18" charset="0"/>
                            </a:rPr>
                            <m:t>0.</m:t>
                          </m:r>
                          <m:r>
                            <a:rPr lang="de-DE" sz="3600" b="0" i="1" dirty="0" smtClean="0">
                              <a:solidFill>
                                <a:srgbClr val="1B2733"/>
                              </a:solidFill>
                              <a:latin typeface="Cambria Math" panose="02040503050406030204" pitchFamily="18" charset="0"/>
                            </a:rPr>
                            <m:t>613</m:t>
                          </m:r>
                        </m:sup>
                      </m:sSup>
                    </m:oMath>
                  </m:oMathPara>
                </a14:m>
                <a:endParaRPr lang="en-US" sz="3600" b="0" i="1" dirty="0">
                  <a:solidFill>
                    <a:srgbClr val="1B2733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CA33142-9B14-7584-47A9-39E0CCDF1F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84927" y="6897695"/>
                <a:ext cx="2824565" cy="69762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0F3DAAA-6894-C5D4-7BB7-C43ECBE7BBCF}"/>
                  </a:ext>
                </a:extLst>
              </p:cNvPr>
              <p:cNvSpPr txBox="1"/>
              <p:nvPr/>
            </p:nvSpPr>
            <p:spPr>
              <a:xfrm>
                <a:off x="16692372" y="6897695"/>
                <a:ext cx="3077477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3600" b="0" i="1" dirty="0" smtClean="0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0.219</m:t>
                      </m:r>
                      <m:r>
                        <a:rPr lang="en-US" sz="3600" i="1" dirty="0" smtClean="0">
                          <a:solidFill>
                            <a:srgbClr val="1B2733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p>
                        <m:sSupPr>
                          <m:ctrlPr>
                            <a:rPr lang="en-US" sz="3600" i="1" dirty="0" smtClean="0">
                              <a:solidFill>
                                <a:srgbClr val="1B27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3600" b="0" i="1" dirty="0" smtClean="0">
                              <a:solidFill>
                                <a:srgbClr val="1B2733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p>
                          <m:r>
                            <a:rPr lang="en-US" sz="3600" b="0" i="1" dirty="0" smtClean="0">
                              <a:solidFill>
                                <a:srgbClr val="1B2733"/>
                              </a:solidFill>
                              <a:latin typeface="Cambria Math" panose="02040503050406030204" pitchFamily="18" charset="0"/>
                            </a:rPr>
                            <m:t>0.82</m:t>
                          </m:r>
                          <m:r>
                            <a:rPr lang="de-DE" sz="3600" b="0" i="1" dirty="0" smtClean="0">
                              <a:solidFill>
                                <a:srgbClr val="1B2733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p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0F3DAAA-6894-C5D4-7BB7-C43ECBE7BB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92372" y="6897695"/>
                <a:ext cx="3077477" cy="6463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Left Brace 49">
            <a:extLst>
              <a:ext uri="{FF2B5EF4-FFF2-40B4-BE49-F238E27FC236}">
                <a16:creationId xmlns:a16="http://schemas.microsoft.com/office/drawing/2014/main" id="{AA8D2922-11BC-5469-2D85-54B3AAA3EA51}"/>
              </a:ext>
            </a:extLst>
          </p:cNvPr>
          <p:cNvSpPr/>
          <p:nvPr/>
        </p:nvSpPr>
        <p:spPr>
          <a:xfrm rot="16200000" flipH="1">
            <a:off x="14808291" y="5421883"/>
            <a:ext cx="363169" cy="2588453"/>
          </a:xfrm>
          <a:prstGeom prst="leftBrac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Left Brace 50">
            <a:extLst>
              <a:ext uri="{FF2B5EF4-FFF2-40B4-BE49-F238E27FC236}">
                <a16:creationId xmlns:a16="http://schemas.microsoft.com/office/drawing/2014/main" id="{1369D8B3-D52C-3C74-457C-061916BCC942}"/>
              </a:ext>
            </a:extLst>
          </p:cNvPr>
          <p:cNvSpPr/>
          <p:nvPr/>
        </p:nvSpPr>
        <p:spPr>
          <a:xfrm rot="16200000" flipH="1">
            <a:off x="18123604" y="5421883"/>
            <a:ext cx="363169" cy="2588453"/>
          </a:xfrm>
          <a:prstGeom prst="leftBrac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40">
            <a:extLst>
              <a:ext uri="{FF2B5EF4-FFF2-40B4-BE49-F238E27FC236}">
                <a16:creationId xmlns:a16="http://schemas.microsoft.com/office/drawing/2014/main" id="{DF344C5F-65BE-78DB-1032-2D67BC798AE6}"/>
              </a:ext>
            </a:extLst>
          </p:cNvPr>
          <p:cNvSpPr/>
          <p:nvPr/>
        </p:nvSpPr>
        <p:spPr>
          <a:xfrm>
            <a:off x="15645724" y="37591683"/>
            <a:ext cx="13989980" cy="914400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0D5EAF"/>
              </a:gs>
              <a:gs pos="100000">
                <a:srgbClr val="0C549C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40F58D4-C12D-0787-04CB-6FBB7FA7CE8B}"/>
              </a:ext>
            </a:extLst>
          </p:cNvPr>
          <p:cNvSpPr txBox="1"/>
          <p:nvPr/>
        </p:nvSpPr>
        <p:spPr>
          <a:xfrm>
            <a:off x="15645724" y="37531819"/>
            <a:ext cx="13989980" cy="1034129"/>
          </a:xfrm>
          <a:prstGeom prst="rect">
            <a:avLst/>
          </a:prstGeom>
          <a:gradFill>
            <a:gsLst>
              <a:gs pos="0">
                <a:srgbClr val="0D5EAF"/>
              </a:gs>
              <a:gs pos="100000">
                <a:srgbClr val="0C549C"/>
              </a:gs>
            </a:gsLst>
            <a:lin ang="5400000" scaled="0"/>
          </a:gradFill>
        </p:spPr>
        <p:txBody>
          <a:bodyPr wrap="square" lIns="109728" tIns="54864" rIns="109728" bIns="54864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6000" b="1" dirty="0">
                <a:solidFill>
                  <a:srgbClr val="FFFFFF"/>
                </a:solidFill>
                <a:latin typeface="Times New Roman"/>
              </a:rPr>
              <a:t>Autor Contact</a:t>
            </a:r>
            <a:endParaRPr sz="6000" b="1" dirty="0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" name="Rounded Rectangle 42">
            <a:extLst>
              <a:ext uri="{FF2B5EF4-FFF2-40B4-BE49-F238E27FC236}">
                <a16:creationId xmlns:a16="http://schemas.microsoft.com/office/drawing/2014/main" id="{66303CA4-839A-1E64-9C54-9CEF0035DC78}"/>
              </a:ext>
            </a:extLst>
          </p:cNvPr>
          <p:cNvSpPr/>
          <p:nvPr/>
        </p:nvSpPr>
        <p:spPr>
          <a:xfrm>
            <a:off x="15664266" y="38643243"/>
            <a:ext cx="6592484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7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48BDB63D-CA2F-EB4F-B0F2-26E3A5584A9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5920043" y="38963283"/>
            <a:ext cx="3200400" cy="3200400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3A42A74B-51C2-6832-F78B-52489ADDDBE7}"/>
              </a:ext>
            </a:extLst>
          </p:cNvPr>
          <p:cNvSpPr txBox="1"/>
          <p:nvPr/>
        </p:nvSpPr>
        <p:spPr>
          <a:xfrm>
            <a:off x="19577643" y="39892531"/>
            <a:ext cx="2139357" cy="134190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4000" b="0" dirty="0">
                <a:solidFill>
                  <a:srgbClr val="1B2733"/>
                </a:solidFill>
                <a:latin typeface="Times New Roman"/>
              </a:rPr>
              <a:t>Minas Cholevas</a:t>
            </a:r>
            <a:endParaRPr sz="4000" b="1" dirty="0">
              <a:solidFill>
                <a:srgbClr val="22406E"/>
              </a:solidFill>
              <a:latin typeface="Times New Roman"/>
            </a:endParaRP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7AE786C7-A021-49A4-5AA6-DA0047688C2E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25977533" y="38963283"/>
            <a:ext cx="3200400" cy="3200400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3A32C5A-1655-D969-2414-9F91C37FEDCB}"/>
              </a:ext>
            </a:extLst>
          </p:cNvPr>
          <p:cNvSpPr txBox="1"/>
          <p:nvPr/>
        </p:nvSpPr>
        <p:spPr>
          <a:xfrm>
            <a:off x="22860001" y="39892531"/>
            <a:ext cx="2659762" cy="134190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lang="en-US" sz="4000" b="0" dirty="0">
                <a:solidFill>
                  <a:srgbClr val="1B2733"/>
                </a:solidFill>
                <a:latin typeface="Times New Roman"/>
              </a:rPr>
              <a:t>Giannis </a:t>
            </a:r>
            <a:r>
              <a:rPr lang="en-US" sz="4000" b="0" dirty="0" err="1">
                <a:solidFill>
                  <a:srgbClr val="1B2733"/>
                </a:solidFill>
                <a:latin typeface="Times New Roman"/>
              </a:rPr>
              <a:t>Vardanikas</a:t>
            </a:r>
            <a:endParaRPr sz="4000" b="1" dirty="0">
              <a:solidFill>
                <a:srgbClr val="22406E"/>
              </a:solidFill>
              <a:latin typeface="Times New Roman"/>
            </a:endParaRPr>
          </a:p>
        </p:txBody>
      </p:sp>
      <p:pic>
        <p:nvPicPr>
          <p:cNvPr id="61" name="Picture 60" descr="The Propagation Laboratory or It Is Upon Us.&#10;&#10;AI-generated content may be incorrect.">
            <a:extLst>
              <a:ext uri="{FF2B5EF4-FFF2-40B4-BE49-F238E27FC236}">
                <a16:creationId xmlns:a16="http://schemas.microsoft.com/office/drawing/2014/main" id="{B2A9BC4E-73DF-2628-F9EE-05A8A41386D0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3618" t="3473" r="6053" b="5025"/>
          <a:stretch>
            <a:fillRect/>
          </a:stretch>
        </p:blipFill>
        <p:spPr>
          <a:xfrm>
            <a:off x="25977533" y="454867"/>
            <a:ext cx="3844716" cy="3894720"/>
          </a:xfrm>
          <a:prstGeom prst="rect">
            <a:avLst/>
          </a:prstGeom>
          <a:noFill/>
        </p:spPr>
      </p:pic>
      <p:pic>
        <p:nvPicPr>
          <p:cNvPr id="60" name="Picture 59" descr="A_validation.png">
            <a:extLst>
              <a:ext uri="{FF2B5EF4-FFF2-40B4-BE49-F238E27FC236}">
                <a16:creationId xmlns:a16="http://schemas.microsoft.com/office/drawing/2014/main" id="{E87EBE50-305E-EF23-4861-BE17F539A10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572826" y="12390120"/>
            <a:ext cx="14062877" cy="6986308"/>
          </a:xfrm>
          <a:prstGeom prst="rect">
            <a:avLst/>
          </a:prstGeom>
        </p:spPr>
      </p:pic>
      <p:pic>
        <p:nvPicPr>
          <p:cNvPr id="63" name="Picture 62" descr="F_heatmap.png">
            <a:extLst>
              <a:ext uri="{FF2B5EF4-FFF2-40B4-BE49-F238E27FC236}">
                <a16:creationId xmlns:a16="http://schemas.microsoft.com/office/drawing/2014/main" id="{44D25B1C-D6E1-6A34-FBC2-9C4B44E86E5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607031" y="22077049"/>
            <a:ext cx="14062877" cy="595009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419</Words>
  <Application>Microsoft Office PowerPoint</Application>
  <PresentationFormat>Custom</PresentationFormat>
  <Paragraphs>39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Cambria Math</vt:lpstr>
      <vt:lpstr>Times New Roman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Minas Cholevas</cp:lastModifiedBy>
  <cp:revision>4</cp:revision>
  <dcterms:created xsi:type="dcterms:W3CDTF">2013-01-27T09:14:16Z</dcterms:created>
  <dcterms:modified xsi:type="dcterms:W3CDTF">2026-07-02T16:30:45Z</dcterms:modified>
  <cp:category/>
</cp:coreProperties>
</file>